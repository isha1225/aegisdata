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7373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AegisData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accountability layer for regulated healthcare data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“we found sensitive data” to “this is who owns it, what was done, and here is the proof.”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0956" y="45720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0956" y="4572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91156" y="4572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92324" y="45720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92324" y="4572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92524" y="4572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93692" y="45720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93692" y="4572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993892" y="4572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95060" y="45720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95060" y="4572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95260" y="4572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996428" y="45720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996428" y="4572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596628" y="457200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797796" y="45720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97796" y="45720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Product Manager assignment · Product strategy, technical solution design and working prototype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cannot answer four basic questions about its regulated data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PHI, payment, genetic and minors' data is spread across EMRs, imaging, claims, labs, SaaS and legacy systems.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31520" y="2587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it?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tools exist, but coverage gaps are invisible and “no findings” is mistaken for “clean”.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502920" cy="50292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83280" y="24231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66160" y="2587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access it?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9718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intelligence lives in IAM tools that do not know which stores hold PHI.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502920" cy="50292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17920" y="24231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00800" y="2587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accountable?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29718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land in a security queue. No named owner, no SLA, no consequence.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052560" y="1783080"/>
            <a:ext cx="502920" cy="50292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525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052560" y="24231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9235440" y="25877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prove it?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2971800"/>
            <a:ext cx="2240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Boards, DPOs and regulators need evidence that the control worked, not a scan report.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1064240" cy="1463040"/>
          </a:xfrm>
          <a:prstGeom prst="roundRect">
            <a:avLst>
              <a:gd name="adj" fmla="val 5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8006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$2.2B → $6.2B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4406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DSPM category, 2025 → 2033 (≈14% CAGR). Context only, not the planning number.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4800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₹225 cr (~$27M)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54406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India SAM: ≈500 large health systems and health-tech BAs × ≈₹45 lakh ACV. Stated assumption, to be re-derived with design-partner data.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503920" y="4800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Buyer: CISO. Co-buyer: DPO.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8503920" y="52578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ICP: large and mid-large Indian providers with hybrid estates, M&amp;A sprawl and distributed ownership.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whitespace is after discovery, not in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and classification are table stakes. The unowned workflow is what happens next.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DSPM (Purview, Varonis, BigID, OneTrust, Spirion) stops here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48840" y="20574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49040" y="20574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4904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49240" y="205740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CBD5E1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49240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continues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205740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20574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11312" y="205740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11312" y="20574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81744" y="205740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381744" y="20574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552176" y="205740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52176" y="205740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2167128"/>
            <a:ext cx="365760" cy="274320"/>
          </a:xfrm>
          <a:prstGeom prst="rightArrow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for AegisData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Purview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Governance, classification, DLP, DSPM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Microsoft-centric incumbent. Integrate with labels, do not fight.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Varonis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security, access intelligence, remediation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security benchmark. Consume its access graph.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Discovery, context, risk, healthcare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to our breadth. We win on the connected owner → evidence workflow.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OneTrust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Privacy, governance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privacy incumbent. GRC export target, not a rival on remediation.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Spirion / open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 discovery primitives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 is commoditizing. Confirms the wedge must be elsewhere.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for CISOs and DPOs at healthcare organizations, AegisData turns discovery findings into owned decisions, tracked remediation and durable evidence. Unlike horizontal DSPM tools that stop at classification.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decisions that make it defensible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is a product decision with a trade-off, and each is visible in the prototype.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188720" y="1691640"/>
            <a:ext cx="4800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37160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wedge, not discovery breadth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2402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store resolves to one accepted owner. Unowned is itself a risk. Attestation never closes a task; a verification scan does. Evidence is append-only.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we integrate with Purview or BigID for raw breadth instead of out-scanning them.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457200" cy="45720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220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1691640"/>
            <a:ext cx="4800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99516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Healthcare-native connectors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24028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v2 and FHIR resources are parsed as segments, not opaque text. DICOM headers are read with pydicom. These are the PHI leak points regex-only tools skip.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995160" y="32461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deferred to Phase 1 until the core loop is validated with design partners.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188720" y="4023360"/>
            <a:ext cx="4800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371600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Scan-in-place trust model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5720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Classification, including NER and the LLM layer, runs inside the customer boundary. A hard egress filter lets only metadata, counts, hashes and confidence cross.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5577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heavier agent footprint, but no raw-PHI path to defend in a security review.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4023360"/>
            <a:ext cx="457200" cy="45720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722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12280" y="4023360"/>
            <a:ext cx="48006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995160" y="41605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DPDP-native evidence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95160" y="45720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India-region management plane. Evidence packs mapped to DPDP, GDPR and PCI-DSS, integrity-verified and watermarked. Producing a report is itself a logged event.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55778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regional deployment cost up front, in exchange for a shorter BFSI and government trust conversation.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personas share one data graph. Nobody gets a dashboard with role toggles.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are accountability responsibilities, not job titles. Each lands on a surface that answers its one question.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3017520"/>
                <a:gridCol w="27432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question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Lands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never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CISO / Security Director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ASR-A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control effective and independently approved?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Posture + Tier-2 approvals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 request they raised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Officer / DPO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requires my authority?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Approvals Inbox, policy simulation, reports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a high-risk policy they authored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Application 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I do?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Tasks with plain-language remediation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Engineer / Analyst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 I need to decide?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Triage Queue ranked by risk and SLA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accountability to themselves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Admin / Discovery Operator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platform healthy?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 Health and coverage gaps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finding content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Auditor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ASR-R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I prove the control worked?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Center (read-only)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anything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212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duties is enforced in code, not policy text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5532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 ≠ Approver   ·   Owner ≠ Classifier   ·   Policy Author ≠ High-Risk Approver   ·   Tier-2 exceptions need POL + ASR-A   ·   Tenant Admin cannot bypass any of these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demo: one finding, from detection to evidence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Verified-Closed Rate on the CISO's screen should move by the end. Nothing in it is hardcoded.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a degraded connector. The coverage gap closes but the record stays.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965960"/>
            <a:ext cx="457200" cy="45720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 card-number finding. The policy engine fires Restricted + External → P0 and opens a task.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965960"/>
            <a:ext cx="457200" cy="45720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823960" y="2011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 → OWN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56032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an owner. Nothing is accountable until the owner accepts. Then SLA starts.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663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 moves to Pending Verification only. Run the verification scan. Watch one seeded task fail and reopen.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7492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→ POL → CISO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663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Tier-2 exception. POL approves: 1 of 2. CISO completes it. The requester's button is disabled.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823960" y="41148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66344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SHA-256 chain. Every action above is an evidence event. Export writes its own.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Prototype: React, single browser tab, seeded fictional data, in-memory state. Six personas switchable from the top bar.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architecture: six planes around one spine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connectors, scanners and classifiers scale out. The metadata catalogue is the single stateful system of record.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56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layer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Enumerate, fetch metadata, sample, fetch content. Per-source rate limits. Broker-issued short-lived credentials.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2377440"/>
            <a:ext cx="182880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66160" y="1856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scanning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and incremental scans, adaptive sampling, throttling, shard-level checkpoints.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35040" y="2377440"/>
            <a:ext cx="182880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0" y="1856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engine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Six-layer pipeline, confidence scores, model versions. Runs inside the customer boundary.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869680" y="2377440"/>
            <a:ext cx="182880" cy="27432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0" y="169164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35440" y="185623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risk engine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240280"/>
            <a:ext cx="2286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 rules map label + exposure + ownership to obligation, priority, SLA. Resolves owner via access graph.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74904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catalogue &amp; data graph — the spine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0690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→ owners → data → access → risk → action → evidence.  Append-only evidence log in a separate store, so a compromise of application logic cannot rewrite history.  Partitioned writes by tenant; read replicas for dashboards.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1520" y="5010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dashboard layer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394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Persona-scoped surfaces, Evidence Center, DPO and auditor reports, evidence-pack export. Reads replicas only; nothing downstream queries a source system.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48463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400800" y="50109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security plane (cuts across all)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539496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identity federated to tenant SSO. RBAC + attribute rules in the same OPA layer. Vault-brokered secrets. Tamper-evident audit log streamed to SIEM.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trust boundary: scan in place, metadata out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technical control, not a configuration toggle. The customer never surrenders raw PHI to see its risk.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438912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environment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3317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EMR · CDW · PACS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2468880"/>
            <a:ext cx="320040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0175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17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/ FHIR feeds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0" y="3154680"/>
            <a:ext cx="320040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7033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shares · SharePoint · S3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3840480"/>
            <a:ext cx="320040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8912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389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· email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0" y="4526280"/>
            <a:ext cx="320040" cy="228600"/>
          </a:xfrm>
          <a:prstGeom prst="rightArrow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2331720"/>
            <a:ext cx="3017520" cy="2560320"/>
          </a:xfrm>
          <a:prstGeom prst="roundRect">
            <a:avLst>
              <a:gd name="adj" fmla="val 2857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472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agent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474720" y="278892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→ sample → classify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layers, incl. NER and self-hosted LLM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read-only credentials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per source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≤5% of source IOPS/CPU headroom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5029200"/>
            <a:ext cx="3017520" cy="868680"/>
          </a:xfrm>
          <a:prstGeom prst="roundRect">
            <a:avLst>
              <a:gd name="adj" fmla="val 8421"/>
            </a:avLst>
          </a:prstGeom>
          <a:solidFill>
            <a:srgbClr val="B91C1C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5074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filter (hard control)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474720" y="53492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EE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out: counts, classifications, confidence, hashed identifiers, metadata. Never: raw values.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3383280"/>
            <a:ext cx="640080" cy="411480"/>
          </a:xfrm>
          <a:prstGeom prst="rightArrow">
            <a:avLst/>
          </a:prstGeom>
          <a:solidFill>
            <a:srgbClr val="2F5FA3"/>
          </a:solidFill>
          <a:ln w="12700">
            <a:solidFill>
              <a:srgbClr val="2F5F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52360" y="1737360"/>
            <a:ext cx="4160520" cy="4389120"/>
          </a:xfrm>
          <a:prstGeom prst="roundRect">
            <a:avLst>
              <a:gd name="adj" fmla="val 2637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35240" y="1828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plane (India region or on-prem)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35240" y="22402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catalogue and data graph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risk engine (OPA)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tasks, exceptions, approvals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evidence store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Persona-scoped dashboards and reports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webhooks to DLP, IAM, SIEM, ticketing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635240" y="4754880"/>
            <a:ext cx="3794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0" y="48280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raw-value access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510235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authorized, requester ≠ approver, time-bound, minimum scope, every record logged. An architectural property, not a policy users remember.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classification: cheap and deterministic first, expensive inference last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1–4 run on everything. Only ambiguous residue escalates to NER, then to a self-hosted LLM.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4066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468880"/>
                <a:gridCol w="219456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+ checksums (Luhn, ABHA, NPI, MRN formats)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numbers, phone, ID formats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fast, high precision; brittle to format drift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Dictionaries and keyword lists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 names, ICD-10, clinical terms, minors' keywords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and explainable; lists need curation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Fingerprinting / exact data matching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 record sets recurring across the estate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Near-zero false positives; only known content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Document-type SVM (TF-IDF)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 report vs. billing vs. consent form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CPU-only, runs in the agent; needs a stable label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 (Presidio, spaCy + med7 / scispaCy)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Names, diagnoses, MRNs in free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 prose; higher compute, needs tuning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LLM-assisted, self-hosted, escalation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De-identified research vs. PHI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judgment; highest cost; never a shared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69164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412480" y="18562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2402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carries a confidence score and its contributing layers. Low-confidence or conflicting findings go to the Review Queue, never to auto-labelling. Precision beats recall for auto-applied high-impact actions.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229600" y="3429000"/>
            <a:ext cx="33832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412480" y="3593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learning, gated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3977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analyst-adjudicated outcomes become training data. Owners may dispute but never relabel. Per-source precision and recall are surfaced to admins.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229600" y="5029200"/>
            <a:ext cx="3383280" cy="1188720"/>
          </a:xfrm>
          <a:prstGeom prst="roundRect">
            <a:avLst>
              <a:gd name="adj" fmla="val 6154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5193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trade-off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5577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clinical NER vs. AWS Comprehend Medical or Google Healthcare NLP. Default is in-house to avoid a second BAA vendor in the PHI path. Flagged for design-partner validation.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accountability model is a set of state machines, not a workflow diagram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transition is attributable. No state exists for suppress or snooze anywhere in the product.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74520" y="1737360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74520" y="1737360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077870" y="1737360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77870" y="1737360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81221" y="1737360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81221" y="1737360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/ Rejected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4571" y="1737360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4571" y="1737360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Required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687922" y="1737360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87922" y="1737360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Closed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7955280" y="16916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Superseded records stay auditable. Confirming triggers the policy engine.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441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874520" y="2487168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74520" y="2487168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Unowned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378708" y="2487168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78708" y="2487168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82896" y="2487168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82896" y="2487168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87084" y="2487168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87084" y="2487168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24414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activates only on Accepted. Delegation moves work, never accountability.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3191256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874520" y="3236976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874520" y="3236976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77870" y="3236976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077870" y="3236976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281221" y="3236976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81221" y="3236976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4571" y="3236976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4571" y="3236976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Verification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87922" y="3236976"/>
            <a:ext cx="1038758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87922" y="3236976"/>
            <a:ext cx="10387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Closed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319125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cannot close. Failed verification → back to In Progress. Pause needs a reason and a date.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3941064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874520" y="3986784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874520" y="3986784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378708" y="3986784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378708" y="3986784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82896" y="3986784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82896" y="3986784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387084" y="3986784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87084" y="3986784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/ Revoked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7955280" y="3941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reason, approver, expiry recorded. No silent renewal. Tier-2 needs POL + ASR-A.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469087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1874520" y="4736592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874520" y="4736592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378708" y="4736592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378708" y="4736592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82896" y="4736592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882896" y="4736592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87084" y="4736592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387084" y="4736592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7955280" y="46908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opens a coverage gap. Recovery closes it but never deletes the record.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5440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1874520" y="5486400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874520" y="5486400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3378708" y="5486400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378708" y="5486400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82896" y="5486400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4882896" y="5486400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387084" y="5486400"/>
            <a:ext cx="1339596" cy="38404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387084" y="5486400"/>
            <a:ext cx="13395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</a:t>
            </a:r>
            <a:endParaRPr lang="en-US" sz="950" dirty="0"/>
          </a:p>
        </p:txBody>
      </p:sp>
      <p:sp>
        <p:nvSpPr>
          <p:cNvPr id="67" name="Text 65"/>
          <p:cNvSpPr txBox="1"/>
          <p:nvPr/>
        </p:nvSpPr>
        <p:spPr>
          <a:xfrm>
            <a:off x="7955280" y="54406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over the entry and the previous hash. Append-only. Export is itself an event.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48640" y="6172200"/>
            <a:ext cx="11064240" cy="914"/>
          </a:xfrm>
          <a:prstGeom prst="roundRect">
            <a:avLst>
              <a:gd name="adj" fmla="val 8003501"/>
            </a:avLst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with hybrid-SaaS. Offer on-premises as a defined variant.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Scan-in-place already keeps raw PHI inside the customer. Deployment model only decides where metadata lives.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40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inside customer infrastructure. Government, strict BFSI, no-egress mandates.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Residency: Nothing leaves customer control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Hybrid-SaaS (recommended)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40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management plane pinned to an India region. In-perimeter scan agents. Large health systems needing agility with residency.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Residency: Metadata only; region-pinned to ap-south-1 or Central India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2402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management plane, agents in customer environment. Mid-market wanting time-to-value.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2461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Residency: Metadata only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31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pure SaaS: providers with material PHI estates reject any raw-data path leaving the perimeter. Why not on-prem first: it slows time-to-value and multiplies ops burden before product-market fit.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3891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651760"/>
                <a:gridCol w="5486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Non-functional target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scan 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min p95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change feeds (CDC, delta tokens, storage events)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Full-scan throughput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5,000 objects/s per 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Metadata-first triage, enumeration decoupled from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latency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s p95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read replicas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write availability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Multi-AZ; idempotent, checkpointed jobs; per-connector circuit breakers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5% IOPS/CPU headroom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throttling, maintenance windows for heavy scans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/ identity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AES-256, TLS 1.3, mTLS, tenant keys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Envelope encryption, CMK for BFSI/government, Keycloak OIDC/SAML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is generated from the same catalogue, not a separate pipeline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 maps to one capability and one evidence artifact. The prototype fills the status column live.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3840480"/>
                <a:gridCol w="30175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produced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 what personal / sensitive data is held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Act 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Layered discovery across structured, unstructured, SaaS, HL7/FHIR, DICOM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Classified inventory per store with confidence and timestamp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 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 §5–8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Business-context tags + taxonomy crosswalk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record linking store to 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Erasure / correction rights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DPDP; GDPR Art. 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Located-instance search on hashed identifiers → erasure task → verification re-scan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record: request → stores → action → 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of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Art. 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Catalogue as continuously updated system of record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Exportable RoPA-equivalent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of 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Art. 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Encryption, RBAC, scan-in-place, audit logging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NFR summary + exportable audit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Cardholder data discovery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3,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Luhn-validated patterns + EDM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+ risk score + remediation task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7/8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graph + IAM/PAM webhooks on new Restricted stores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Access-review task and completion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PCI-DSS 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Append-only, hash-chained log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118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Immutable export; SIEM stream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59612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 ethics: normal workflows see metadata, classifications, confidence, hashes and access context. Never raw values. Exports are integrity-verified, watermarked and logged as evidence events.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Roadmap: validate the loop, then make the healthcare product real, then assure at scale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Phasing is capability-led. Each phase states what ships, what is deferred, and why.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· Design-partner pilot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months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8346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RDBMS, file share, SaaS connectors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layers 1–4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Manual-heavy Triage Queue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Single-tenant / on-prem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evidence logging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Deferred: HL7/FHIR/DICOM, LLM layer. Validate discover → classify → triage precision with 1–2 partners first.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2F5FA3"/>
          </a:solidFill>
          <a:ln w="9525">
            <a:solidFill>
              <a:srgbClr val="2F5F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Hybrid-SaaS GA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months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8346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HL7/FHIR and DICOM connectors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layer 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 → task → verification → evidence workflow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India-region multi-tenant plane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simulation; DLP/IAM/SIEM/ticketing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Deferred: LLM layer pending real ambiguity volume; patient self-service portal out of scope.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Assurance &amp; scale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9–18 months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2560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0" y="283464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escalation layer 6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on-prem / single-tenant variants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Posture for ASR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Break-glass raw-value workflow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Deferred: BFSI, telecom, government as independent ICPs until healthcare PMF; graph-DB decision revisited.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north-star metric, priced on estate complexity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discovery-volume metric rewards finding more. This one rewards closing the loop.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E2A44"/>
          </a:solidFill>
          <a:ln w="9525">
            <a:solidFill>
              <a:srgbClr val="1E2A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Verified-Closed Rate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discovered regulated-data stores that are Owned, Remediated where required, and Evidenced within SLA. Computed from live states in the prototype; it moves during the demo.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KPIs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3484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Time-to-Owner: median days from discovery to Accepted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SLA adherence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Unowned Restricted-store count, trending to zero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precision on auto-applied high-impact actions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packs exported per quarter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303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92240" y="18562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per data source + per TB scanned, seat add-on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2240280"/>
            <a:ext cx="4937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source aligns cost with estate complexity, which a CISO can read (40 systems cost more than 5). Per TB captures compute on very large unstructured repositories. Seats are an add-on beyond an included base, never a gate, because “every store has an owner” means many owners logging in occasionally.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406908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EAF0FA"/>
          </a:solidFill>
          <a:ln w="9525">
            <a:solidFill>
              <a:srgbClr val="EAF0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4233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per record / per PHI field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6177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exhaustive classification before invoicing, which contradicts the sampling-first architecture. Assumed ACV ₹35–60 lakh/year, pending design-partner validation.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validate first, and what I am assuming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704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Well-flagged assumptions are a strength. These are the ones that change the plan if wrong.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202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obligations differ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14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vs. RBI/sectoral rules. Assumed configurable region pinning plus per-deal legal validation, not one hard-coded posture.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9202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LLM APIs are unacceptable for PHI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514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layer assumed self-hosted or private-endpoint inside the trust boundary. Cost model depends on real ambiguity volume.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7830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9202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targets are indicative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51460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design-partner workloads before committing them as SLAs.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886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integrate with IAM, not replace it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Access-graph data comes from the customer's identity systems via Keycloak federation.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9768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886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technology is a build-time decision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graph on Postgres vs. dedicated graph DB. Revisited in Phase 2 on observed query patterns.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27365A"/>
          </a:solidFill>
          <a:ln w="9525">
            <a:solidFill>
              <a:srgbClr val="2736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8862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and pricing are assumptions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480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SAM and ACV to be re-derived from design-partner deal data after Phase 0.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of the panel: challenge the architecture under changed constraints. The accountability loop should survive every one of them.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4652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AegisData · TPM assignment ·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2026-09-14T20:52:23Z</dcterms:created>
  <dcterms:modified xsi:type="dcterms:W3CDTF">2026-09-14T20:52:23Z</dcterms:modified>
</cp:coreProperties>
</file>